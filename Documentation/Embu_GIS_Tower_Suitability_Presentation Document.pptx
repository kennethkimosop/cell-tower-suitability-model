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3" r:id="rId2"/>
    <p:sldId id="284" r:id="rId3"/>
    <p:sldId id="285" r:id="rId4"/>
    <p:sldId id="287" r:id="rId5"/>
    <p:sldId id="288" r:id="rId6"/>
    <p:sldId id="293" r:id="rId7"/>
    <p:sldId id="272" r:id="rId8"/>
    <p:sldId id="266" r:id="rId9"/>
    <p:sldId id="295" r:id="rId10"/>
    <p:sldId id="289" r:id="rId11"/>
    <p:sldId id="290" r:id="rId12"/>
    <p:sldId id="294" r:id="rId13"/>
    <p:sldId id="258" r:id="rId14"/>
  </p:sldIdLst>
  <p:sldSz cx="16256000" cy="9144000"/>
  <p:notesSz cx="16256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29" autoAdjust="0"/>
    <p:restoredTop sz="94660"/>
  </p:normalViewPr>
  <p:slideViewPr>
    <p:cSldViewPr>
      <p:cViewPr varScale="1">
        <p:scale>
          <a:sx n="58" d="100"/>
          <a:sy n="58" d="100"/>
        </p:scale>
        <p:origin x="23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28F7D-A72E-465D-B1BA-36A38BD4BF42}" type="datetimeFigureOut">
              <a:rPr lang="en-KE" smtClean="0"/>
              <a:t>14/08/2026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ED038-30A5-4BB6-8E6D-76B412DF9BB7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67997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ED038-30A5-4BB6-8E6D-76B412DF9BB7}" type="slidenum">
              <a:rPr lang="en-KE" smtClean="0"/>
              <a:t>7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27868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ED038-30A5-4BB6-8E6D-76B412DF9BB7}" type="slidenum">
              <a:rPr lang="en-KE" smtClean="0"/>
              <a:t>8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73736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ED038-30A5-4BB6-8E6D-76B412DF9BB7}" type="slidenum">
              <a:rPr lang="en-KE" smtClean="0"/>
              <a:t>9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2420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ED038-30A5-4BB6-8E6D-76B412DF9BB7}" type="slidenum">
              <a:rPr lang="en-KE" smtClean="0"/>
              <a:t>10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3451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ED038-30A5-4BB6-8E6D-76B412DF9BB7}" type="slidenum">
              <a:rPr lang="en-KE" smtClean="0"/>
              <a:t>11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47045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48C51-79B4-46C8-9A93-DADA3CCDCD0E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rgbClr val="146404"/>
                </a:solidFill>
                <a:latin typeface="Palladio Uralic"/>
                <a:cs typeface="Palladio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52528-1FC8-4CF7-A3FA-EFA748632EB3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rgbClr val="146404"/>
                </a:solidFill>
                <a:latin typeface="Palladio Uralic"/>
                <a:cs typeface="Palladio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53734-DF42-4D2A-AD18-09B1D6818697}" type="datetime1">
              <a:rPr lang="en-US" smtClean="0"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rgbClr val="146404"/>
                </a:solidFill>
                <a:latin typeface="Palladio Uralic"/>
                <a:cs typeface="Palladio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11BEB-B8C4-4A0F-821B-9A6FEE666A6F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308817"/>
            <a:ext cx="4835182" cy="4835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184661" y="0"/>
            <a:ext cx="5071745" cy="5071745"/>
          </a:xfrm>
          <a:custGeom>
            <a:avLst/>
            <a:gdLst/>
            <a:ahLst/>
            <a:cxnLst/>
            <a:rect l="l" t="t" r="r" b="b"/>
            <a:pathLst>
              <a:path w="5071744" h="5071745">
                <a:moveTo>
                  <a:pt x="5071338" y="0"/>
                </a:moveTo>
                <a:lnTo>
                  <a:pt x="0" y="0"/>
                </a:lnTo>
                <a:lnTo>
                  <a:pt x="5071338" y="5071338"/>
                </a:lnTo>
                <a:lnTo>
                  <a:pt x="5071338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184649" y="0"/>
            <a:ext cx="5071351" cy="50713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390219" y="6579679"/>
            <a:ext cx="920305" cy="7424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227428" y="7258977"/>
            <a:ext cx="522605" cy="2056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951205" y="7258977"/>
            <a:ext cx="1586102" cy="3069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1487F-1555-41EA-A962-5669791B2795}" type="datetime1">
              <a:rPr lang="en-US" smtClean="0"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92738" y="2301400"/>
            <a:ext cx="6070523" cy="1103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1" i="0">
                <a:solidFill>
                  <a:srgbClr val="146404"/>
                </a:solidFill>
                <a:latin typeface="Palladio Uralic"/>
                <a:cs typeface="Palladio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7B43B-BD69-4D76-A8FB-95280B297244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kut.ac.ke/" TargetMode="External"/><Relationship Id="rId5" Type="http://schemas.openxmlformats.org/officeDocument/2006/relationships/hyperlink" Target="mailto:vc@dkut.ac.ke" TargetMode="Externa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15A78134-3C2B-4B9A-AB5A-BA41C1D8E86A}"/>
              </a:ext>
            </a:extLst>
          </p:cNvPr>
          <p:cNvSpPr txBox="1"/>
          <p:nvPr/>
        </p:nvSpPr>
        <p:spPr>
          <a:xfrm rot="540000">
            <a:off x="13255970" y="7411700"/>
            <a:ext cx="71349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D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5E53D0CB-700D-4CFC-B15D-3D9988358784}"/>
              </a:ext>
            </a:extLst>
          </p:cNvPr>
          <p:cNvSpPr txBox="1"/>
          <p:nvPr/>
        </p:nvSpPr>
        <p:spPr>
          <a:xfrm rot="480000">
            <a:off x="13295513" y="7415385"/>
            <a:ext cx="68170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E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F1BBC75F-7931-49A9-9AE6-0ED926AA70D1}"/>
              </a:ext>
            </a:extLst>
          </p:cNvPr>
          <p:cNvSpPr txBox="1"/>
          <p:nvPr/>
        </p:nvSpPr>
        <p:spPr>
          <a:xfrm rot="420000">
            <a:off x="13326556" y="7420167"/>
            <a:ext cx="71349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D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84B96C56-D8AD-4856-8C56-C60A6154A19C}"/>
              </a:ext>
            </a:extLst>
          </p:cNvPr>
          <p:cNvSpPr txBox="1"/>
          <p:nvPr/>
        </p:nvSpPr>
        <p:spPr>
          <a:xfrm rot="360000">
            <a:off x="13367890" y="7426502"/>
            <a:ext cx="92775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80" dirty="0">
                <a:solidFill>
                  <a:srgbClr val="F40000"/>
                </a:solidFill>
                <a:latin typeface="Arial"/>
                <a:cs typeface="Arial"/>
              </a:rPr>
              <a:t>A</a:t>
            </a: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N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23859F7E-C44B-4B91-AD34-5EC2BDB72D5F}"/>
              </a:ext>
            </a:extLst>
          </p:cNvPr>
          <p:cNvSpPr txBox="1"/>
          <p:nvPr/>
        </p:nvSpPr>
        <p:spPr>
          <a:xfrm rot="300000">
            <a:off x="13445888" y="7433376"/>
            <a:ext cx="69077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K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5BD597ED-F44C-431B-ACCF-CBA4244A5371}"/>
              </a:ext>
            </a:extLst>
          </p:cNvPr>
          <p:cNvSpPr txBox="1"/>
          <p:nvPr/>
        </p:nvSpPr>
        <p:spPr>
          <a:xfrm rot="240000">
            <a:off x="13484233" y="7437162"/>
            <a:ext cx="88047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5" dirty="0">
                <a:solidFill>
                  <a:srgbClr val="F40000"/>
                </a:solidFill>
                <a:latin typeface="Arial"/>
                <a:cs typeface="Arial"/>
              </a:rPr>
              <a:t>I</a:t>
            </a:r>
            <a:r>
              <a:rPr sz="450" b="1" spc="-10" dirty="0">
                <a:solidFill>
                  <a:srgbClr val="F40000"/>
                </a:solidFill>
                <a:latin typeface="Arial"/>
                <a:cs typeface="Arial"/>
              </a:rPr>
              <a:t>M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2BC7CCB-1DFE-4422-911D-81093517A76B}"/>
              </a:ext>
            </a:extLst>
          </p:cNvPr>
          <p:cNvSpPr txBox="1"/>
          <p:nvPr/>
        </p:nvSpPr>
        <p:spPr>
          <a:xfrm rot="180000">
            <a:off x="13546733" y="7441203"/>
            <a:ext cx="85762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95" dirty="0">
                <a:solidFill>
                  <a:srgbClr val="F40000"/>
                </a:solidFill>
                <a:latin typeface="Arial"/>
                <a:cs typeface="Arial"/>
              </a:rPr>
              <a:t>A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T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0E9A8E0C-F75F-4634-A054-D2D3125CFC99}"/>
              </a:ext>
            </a:extLst>
          </p:cNvPr>
          <p:cNvSpPr txBox="1"/>
          <p:nvPr/>
        </p:nvSpPr>
        <p:spPr>
          <a:xfrm rot="120000">
            <a:off x="13605429" y="7444060"/>
            <a:ext cx="81371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H</a:t>
            </a:r>
            <a:r>
              <a:rPr sz="450" b="1" spc="5" dirty="0">
                <a:solidFill>
                  <a:srgbClr val="F40000"/>
                </a:solidFill>
                <a:latin typeface="Arial"/>
                <a:cs typeface="Arial"/>
              </a:rPr>
              <a:t>I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76096BC9-4CEA-4CAD-8C6E-7177DA0506AE}"/>
              </a:ext>
            </a:extLst>
          </p:cNvPr>
          <p:cNvSpPr txBox="1"/>
          <p:nvPr/>
        </p:nvSpPr>
        <p:spPr>
          <a:xfrm rot="60000">
            <a:off x="13676405" y="7446699"/>
            <a:ext cx="95701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5" dirty="0">
                <a:solidFill>
                  <a:srgbClr val="F40000"/>
                </a:solidFill>
                <a:latin typeface="Arial"/>
                <a:cs typeface="Arial"/>
              </a:rPr>
              <a:t>U</a:t>
            </a: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N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32ADCCD4-5AD2-49C3-B3F4-4C42BF4F3237}"/>
              </a:ext>
            </a:extLst>
          </p:cNvPr>
          <p:cNvSpPr txBox="1"/>
          <p:nvPr/>
        </p:nvSpPr>
        <p:spPr>
          <a:xfrm>
            <a:off x="13797559" y="7428031"/>
            <a:ext cx="14351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b="1" spc="-70" dirty="0">
                <a:solidFill>
                  <a:srgbClr val="F40000"/>
                </a:solidFill>
                <a:latin typeface="Arial"/>
                <a:cs typeface="Arial"/>
              </a:rPr>
              <a:t>E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R</a:t>
            </a:r>
            <a:r>
              <a:rPr sz="450" b="1" spc="-50" dirty="0">
                <a:solidFill>
                  <a:srgbClr val="F40000"/>
                </a:solidFill>
                <a:latin typeface="Arial"/>
                <a:cs typeface="Arial"/>
              </a:rPr>
              <a:t>S</a:t>
            </a:r>
            <a:r>
              <a:rPr sz="450" b="1" spc="5" dirty="0">
                <a:solidFill>
                  <a:srgbClr val="F40000"/>
                </a:solidFill>
                <a:latin typeface="Arial"/>
                <a:cs typeface="Arial"/>
              </a:rPr>
              <a:t>I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1537405F-F857-4332-A12E-F01F2D2AD4F1}"/>
              </a:ext>
            </a:extLst>
          </p:cNvPr>
          <p:cNvSpPr txBox="1"/>
          <p:nvPr/>
        </p:nvSpPr>
        <p:spPr>
          <a:xfrm>
            <a:off x="13747363" y="7427681"/>
            <a:ext cx="223520" cy="100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b="1" spc="-20" dirty="0">
                <a:solidFill>
                  <a:srgbClr val="F40000"/>
                </a:solidFill>
                <a:latin typeface="Arial"/>
                <a:cs typeface="Arial"/>
              </a:rPr>
              <a:t>IV</a:t>
            </a:r>
            <a:r>
              <a:rPr sz="450" b="1" spc="65" dirty="0">
                <a:solidFill>
                  <a:srgbClr val="F40000"/>
                </a:solidFill>
                <a:latin typeface="Arial"/>
                <a:cs typeface="Arial"/>
              </a:rPr>
              <a:t> 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T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35" name="object 13">
            <a:extLst>
              <a:ext uri="{FF2B5EF4-FFF2-40B4-BE49-F238E27FC236}">
                <a16:creationId xmlns:a16="http://schemas.microsoft.com/office/drawing/2014/main" id="{DDC5A817-4E1C-4778-8BDA-2B959B60D604}"/>
              </a:ext>
            </a:extLst>
          </p:cNvPr>
          <p:cNvSpPr txBox="1"/>
          <p:nvPr/>
        </p:nvSpPr>
        <p:spPr>
          <a:xfrm rot="21540000">
            <a:off x="13947834" y="7446781"/>
            <a:ext cx="104823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Y</a:t>
            </a:r>
            <a:r>
              <a:rPr sz="450" b="1" spc="-15" dirty="0">
                <a:solidFill>
                  <a:srgbClr val="F40000"/>
                </a:solidFill>
                <a:latin typeface="Arial"/>
                <a:cs typeface="Arial"/>
              </a:rPr>
              <a:t> </a:t>
            </a: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O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9A88B063-E5F4-4284-917F-EC9234CBCE23}"/>
              </a:ext>
            </a:extLst>
          </p:cNvPr>
          <p:cNvSpPr txBox="1"/>
          <p:nvPr/>
        </p:nvSpPr>
        <p:spPr>
          <a:xfrm rot="21480000">
            <a:off x="14031661" y="7444074"/>
            <a:ext cx="97188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F</a:t>
            </a:r>
            <a:r>
              <a:rPr sz="450" b="1" spc="-15" dirty="0">
                <a:solidFill>
                  <a:srgbClr val="F40000"/>
                </a:solidFill>
                <a:latin typeface="Arial"/>
                <a:cs typeface="Arial"/>
              </a:rPr>
              <a:t> 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T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37" name="object 15">
            <a:extLst>
              <a:ext uri="{FF2B5EF4-FFF2-40B4-BE49-F238E27FC236}">
                <a16:creationId xmlns:a16="http://schemas.microsoft.com/office/drawing/2014/main" id="{49730117-7C4A-4902-B70B-E25478391F07}"/>
              </a:ext>
            </a:extLst>
          </p:cNvPr>
          <p:cNvSpPr txBox="1"/>
          <p:nvPr/>
        </p:nvSpPr>
        <p:spPr>
          <a:xfrm rot="21420000">
            <a:off x="14104876" y="7440493"/>
            <a:ext cx="88047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75" dirty="0">
                <a:solidFill>
                  <a:srgbClr val="F40000"/>
                </a:solidFill>
                <a:latin typeface="Arial"/>
                <a:cs typeface="Arial"/>
              </a:rPr>
              <a:t>E</a:t>
            </a: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C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38" name="object 16">
            <a:extLst>
              <a:ext uri="{FF2B5EF4-FFF2-40B4-BE49-F238E27FC236}">
                <a16:creationId xmlns:a16="http://schemas.microsoft.com/office/drawing/2014/main" id="{89E00390-81A1-41FC-9E24-C18BFC8202C6}"/>
              </a:ext>
            </a:extLst>
          </p:cNvPr>
          <p:cNvSpPr txBox="1"/>
          <p:nvPr/>
        </p:nvSpPr>
        <p:spPr>
          <a:xfrm rot="21360000">
            <a:off x="14162908" y="7437184"/>
            <a:ext cx="71012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H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39" name="object 17">
            <a:extLst>
              <a:ext uri="{FF2B5EF4-FFF2-40B4-BE49-F238E27FC236}">
                <a16:creationId xmlns:a16="http://schemas.microsoft.com/office/drawing/2014/main" id="{9547FB25-856D-41CA-BE47-F931E7039757}"/>
              </a:ext>
            </a:extLst>
          </p:cNvPr>
          <p:cNvSpPr txBox="1"/>
          <p:nvPr/>
        </p:nvSpPr>
        <p:spPr>
          <a:xfrm rot="21300000">
            <a:off x="14205470" y="7432257"/>
            <a:ext cx="95701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5" dirty="0">
                <a:solidFill>
                  <a:srgbClr val="F40000"/>
                </a:solidFill>
                <a:latin typeface="Arial"/>
                <a:cs typeface="Arial"/>
              </a:rPr>
              <a:t>N</a:t>
            </a: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O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40" name="object 18">
            <a:extLst>
              <a:ext uri="{FF2B5EF4-FFF2-40B4-BE49-F238E27FC236}">
                <a16:creationId xmlns:a16="http://schemas.microsoft.com/office/drawing/2014/main" id="{DF787B90-D930-4F20-8633-BD02E2B32EBF}"/>
              </a:ext>
            </a:extLst>
          </p:cNvPr>
          <p:cNvSpPr txBox="1"/>
          <p:nvPr/>
        </p:nvSpPr>
        <p:spPr>
          <a:xfrm rot="21240000">
            <a:off x="14270109" y="7427023"/>
            <a:ext cx="67876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L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41" name="object 19">
            <a:extLst>
              <a:ext uri="{FF2B5EF4-FFF2-40B4-BE49-F238E27FC236}">
                <a16:creationId xmlns:a16="http://schemas.microsoft.com/office/drawing/2014/main" id="{210DBBBA-6797-47CF-9370-75501A5639AC}"/>
              </a:ext>
            </a:extLst>
          </p:cNvPr>
          <p:cNvSpPr txBox="1"/>
          <p:nvPr/>
        </p:nvSpPr>
        <p:spPr>
          <a:xfrm rot="21180000">
            <a:off x="14301096" y="7422917"/>
            <a:ext cx="71349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O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42" name="object 20">
            <a:extLst>
              <a:ext uri="{FF2B5EF4-FFF2-40B4-BE49-F238E27FC236}">
                <a16:creationId xmlns:a16="http://schemas.microsoft.com/office/drawing/2014/main" id="{0510656D-496B-4B3C-8D71-02869145F653}"/>
              </a:ext>
            </a:extLst>
          </p:cNvPr>
          <p:cNvSpPr txBox="1"/>
          <p:nvPr/>
        </p:nvSpPr>
        <p:spPr>
          <a:xfrm rot="21120000">
            <a:off x="14336672" y="7417744"/>
            <a:ext cx="71349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G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B1DCD10C-5994-4918-AFCA-F98C23A14D3F}"/>
              </a:ext>
            </a:extLst>
          </p:cNvPr>
          <p:cNvSpPr txBox="1"/>
          <p:nvPr/>
        </p:nvSpPr>
        <p:spPr>
          <a:xfrm rot="21000000">
            <a:off x="14371931" y="7412059"/>
            <a:ext cx="69389" cy="6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Y</a:t>
            </a:r>
            <a:endParaRPr sz="450" dirty="0">
              <a:latin typeface="Arial"/>
              <a:cs typeface="Arial"/>
            </a:endParaRPr>
          </a:p>
        </p:txBody>
      </p:sp>
      <p:sp>
        <p:nvSpPr>
          <p:cNvPr id="44" name="object 22">
            <a:extLst>
              <a:ext uri="{FF2B5EF4-FFF2-40B4-BE49-F238E27FC236}">
                <a16:creationId xmlns:a16="http://schemas.microsoft.com/office/drawing/2014/main" id="{4F41AA73-B121-421E-BE45-E73100542211}"/>
              </a:ext>
            </a:extLst>
          </p:cNvPr>
          <p:cNvSpPr txBox="1"/>
          <p:nvPr/>
        </p:nvSpPr>
        <p:spPr>
          <a:xfrm>
            <a:off x="12120867" y="7795789"/>
            <a:ext cx="3460750" cy="70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5025" marR="5080" indent="-822960">
              <a:lnSpc>
                <a:spcPct val="101000"/>
              </a:lnSpc>
              <a:spcBef>
                <a:spcPts val="95"/>
              </a:spcBef>
            </a:pPr>
            <a:r>
              <a:rPr sz="2200" b="1" spc="10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Dedan Kimathi</a:t>
            </a:r>
            <a:r>
              <a:rPr sz="2200" b="1" spc="-6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 </a:t>
            </a:r>
            <a:r>
              <a:rPr sz="2200" b="1" spc="10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University  </a:t>
            </a:r>
            <a:r>
              <a:rPr sz="2200" b="1" spc="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of</a:t>
            </a:r>
            <a:r>
              <a:rPr lang="en-US" sz="2200" b="1" spc="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 </a:t>
            </a:r>
            <a:r>
              <a:rPr sz="2200" b="1" spc="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Technology</a:t>
            </a:r>
            <a:endParaRPr sz="2200" dirty="0">
              <a:latin typeface="Book Antiqua" panose="02040602050305030304" pitchFamily="18" charset="0"/>
              <a:cs typeface="Palladio Uralic"/>
            </a:endParaRPr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36DB5CAB-4D5C-46D3-AFA6-0A592D5323D3}"/>
              </a:ext>
            </a:extLst>
          </p:cNvPr>
          <p:cNvSpPr txBox="1"/>
          <p:nvPr/>
        </p:nvSpPr>
        <p:spPr>
          <a:xfrm>
            <a:off x="279401" y="166039"/>
            <a:ext cx="11963400" cy="2317237"/>
          </a:xfrm>
          <a:prstGeom prst="rect">
            <a:avLst/>
          </a:prstGeom>
        </p:spPr>
        <p:txBody>
          <a:bodyPr vert="horz" wrap="square" lIns="0" tIns="236855" rIns="0" bIns="0" rtlCol="0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Based Spatial Suitability Analysis for</a:t>
            </a:r>
            <a:endParaRPr lang="en-US" sz="4000" dirty="0">
              <a:solidFill>
                <a:srgbClr val="008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Telecommunication Tower Placement in Embu County, Kenya</a:t>
            </a:r>
            <a:endParaRPr lang="en-US" sz="4000" dirty="0">
              <a:solidFill>
                <a:srgbClr val="008000"/>
              </a:solidFill>
            </a:endParaRPr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F7D3F075-922A-4896-AF1D-0F31D53A31D9}"/>
              </a:ext>
            </a:extLst>
          </p:cNvPr>
          <p:cNvSpPr/>
          <p:nvPr/>
        </p:nvSpPr>
        <p:spPr>
          <a:xfrm>
            <a:off x="0" y="5702302"/>
            <a:ext cx="3441700" cy="3441700"/>
          </a:xfrm>
          <a:custGeom>
            <a:avLst/>
            <a:gdLst/>
            <a:ahLst/>
            <a:cxnLst/>
            <a:rect l="l" t="t" r="r" b="b"/>
            <a:pathLst>
              <a:path w="3441700" h="3441700">
                <a:moveTo>
                  <a:pt x="0" y="0"/>
                </a:moveTo>
                <a:lnTo>
                  <a:pt x="0" y="3441700"/>
                </a:lnTo>
                <a:lnTo>
                  <a:pt x="3441700" y="3441700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4C1ABAF5-C929-455C-AA3A-6AF5E2A47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31357"/>
              </p:ext>
            </p:extLst>
          </p:nvPr>
        </p:nvGraphicFramePr>
        <p:xfrm>
          <a:off x="1307547" y="3960145"/>
          <a:ext cx="10469866" cy="2194847"/>
        </p:xfrm>
        <a:graphic>
          <a:graphicData uri="http://schemas.openxmlformats.org/drawingml/2006/table">
            <a:tbl>
              <a:tblPr firstRow="1" firstCol="1" bandRow="1"/>
              <a:tblGrid>
                <a:gridCol w="4280535">
                  <a:extLst>
                    <a:ext uri="{9D8B030D-6E8A-4147-A177-3AD203B41FA5}">
                      <a16:colId xmlns:a16="http://schemas.microsoft.com/office/drawing/2014/main" val="656686517"/>
                    </a:ext>
                  </a:extLst>
                </a:gridCol>
                <a:gridCol w="6189331">
                  <a:extLst>
                    <a:ext uri="{9D8B030D-6E8A-4147-A177-3AD203B41FA5}">
                      <a16:colId xmlns:a16="http://schemas.microsoft.com/office/drawing/2014/main" val="3660660003"/>
                    </a:ext>
                  </a:extLst>
                </a:gridCol>
              </a:tblGrid>
              <a:tr h="4202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Registration No.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201334"/>
                  </a:ext>
                </a:extLst>
              </a:tr>
              <a:tr h="580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E020-01-1653/2022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KENNETH KIMOSOP KIPCHIRCHIR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21051"/>
                  </a:ext>
                </a:extLst>
              </a:tr>
              <a:tr h="55997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E020-01-1155/2022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IVONNE BITENGO MAYAKA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1732723"/>
                  </a:ext>
                </a:extLst>
              </a:tr>
              <a:tr h="55997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E020-01-1143/2022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SALMON ANYANDA MUSINA</a:t>
                      </a:r>
                      <a:endParaRPr lang="en-KE" sz="24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4777480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C8E77B66-B5B1-465D-8DB4-96E46CEB6F08}"/>
              </a:ext>
            </a:extLst>
          </p:cNvPr>
          <p:cNvSpPr txBox="1"/>
          <p:nvPr/>
        </p:nvSpPr>
        <p:spPr>
          <a:xfrm>
            <a:off x="4301569" y="6828618"/>
            <a:ext cx="8130208" cy="59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LECTURER: Dr. KURIA</a:t>
            </a:r>
            <a:endParaRPr lang="en-KE" sz="24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30803F-F58E-434E-A1FF-A647CD75CAD4}"/>
              </a:ext>
            </a:extLst>
          </p:cNvPr>
          <p:cNvSpPr txBox="1"/>
          <p:nvPr/>
        </p:nvSpPr>
        <p:spPr>
          <a:xfrm>
            <a:off x="4301569" y="7666269"/>
            <a:ext cx="5532432" cy="59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FRIDAY, 2</a:t>
            </a:r>
            <a:r>
              <a:rPr lang="en-US" sz="2400" baseline="30000" dirty="0"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AUGUST 2026</a:t>
            </a:r>
            <a:endParaRPr lang="en-KE" sz="24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04147-3531-4486-9306-9BC907D394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pPr/>
              <a:t>1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36763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23986E4-D37B-498F-951C-6FA1528609F2}"/>
              </a:ext>
            </a:extLst>
          </p:cNvPr>
          <p:cNvSpPr/>
          <p:nvPr/>
        </p:nvSpPr>
        <p:spPr>
          <a:xfrm>
            <a:off x="328506" y="292484"/>
            <a:ext cx="9144000" cy="662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6404"/>
                </a:solidFill>
                <a:latin typeface="Book Antiqua" panose="02040602050305030304" pitchFamily="18" charset="0"/>
                <a:ea typeface="+mj-ea"/>
                <a:cs typeface="+mj-cs"/>
              </a:rPr>
              <a:t>Background</a:t>
            </a: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C37A399-DDF3-4A5D-AF29-B1DED3B60AF1}"/>
              </a:ext>
            </a:extLst>
          </p:cNvPr>
          <p:cNvSpPr/>
          <p:nvPr/>
        </p:nvSpPr>
        <p:spPr>
          <a:xfrm>
            <a:off x="11045952" y="9253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014CF90A-E8EE-47A4-9EC8-34BE19A29436}"/>
              </a:ext>
            </a:extLst>
          </p:cNvPr>
          <p:cNvSpPr/>
          <p:nvPr/>
        </p:nvSpPr>
        <p:spPr>
          <a:xfrm>
            <a:off x="0" y="7372350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A7FB73D-8D47-4010-92F0-066006679271}"/>
              </a:ext>
            </a:extLst>
          </p:cNvPr>
          <p:cNvSpPr/>
          <p:nvPr/>
        </p:nvSpPr>
        <p:spPr>
          <a:xfrm>
            <a:off x="14403451" y="0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BE4D5674-3B03-4436-AB71-3317D5822613}"/>
              </a:ext>
            </a:extLst>
          </p:cNvPr>
          <p:cNvSpPr/>
          <p:nvPr/>
        </p:nvSpPr>
        <p:spPr>
          <a:xfrm>
            <a:off x="0" y="1067491"/>
            <a:ext cx="14605000" cy="12747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C5E68BC-1143-4172-A04C-6498BD0065F1}"/>
              </a:ext>
            </a:extLst>
          </p:cNvPr>
          <p:cNvSpPr/>
          <p:nvPr/>
        </p:nvSpPr>
        <p:spPr>
          <a:xfrm>
            <a:off x="328507" y="1805585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E74C46B-D57A-4CAF-8B40-B5E19CCBB7AE}"/>
              </a:ext>
            </a:extLst>
          </p:cNvPr>
          <p:cNvSpPr/>
          <p:nvPr/>
        </p:nvSpPr>
        <p:spPr>
          <a:xfrm>
            <a:off x="328506" y="2838857"/>
            <a:ext cx="8942493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 County contains both urban and rural settlements, but the recorded distribution of advanced cellular infrastructure (3G/4G/5G) is not spatially uniform. Some populated areas lie farther from recorded advanced network sites than others, and high terrain variability adds a further constraint on where new infrastructure is practical.</a:t>
            </a:r>
            <a:endParaRPr lang="en-US" sz="2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BD16368-02F0-426F-B18D-2433803E97C6}"/>
              </a:ext>
            </a:extLst>
          </p:cNvPr>
          <p:cNvSpPr/>
          <p:nvPr/>
        </p:nvSpPr>
        <p:spPr>
          <a:xfrm>
            <a:off x="328507" y="4850537"/>
            <a:ext cx="89424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integrating infrastructure, settlement, road, and terrain data spatially, it is difficult to identify areas that warrant further investigation — leaving some communities more isolated from advanced connectivity than others. This project uses GIS and open spatial data to analyse these factors and produce a suitability surface for potential tower placement.</a:t>
            </a:r>
            <a:endParaRPr lang="en-US" sz="20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F5C725E-254F-48E2-8733-80FC8626393F}"/>
              </a:ext>
            </a:extLst>
          </p:cNvPr>
          <p:cNvSpPr/>
          <p:nvPr/>
        </p:nvSpPr>
        <p:spPr>
          <a:xfrm>
            <a:off x="10307905" y="1946800"/>
            <a:ext cx="563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Spatial planning problem</a:t>
            </a:r>
            <a:endParaRPr lang="en-US" sz="20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BF4DA0C2-44DF-4A5E-A7FC-4BF26928FD1E}"/>
              </a:ext>
            </a:extLst>
          </p:cNvPr>
          <p:cNvSpPr/>
          <p:nvPr/>
        </p:nvSpPr>
        <p:spPr>
          <a:xfrm>
            <a:off x="9825644" y="2585255"/>
            <a:ext cx="591379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RF drive-test / signal measurement data was available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settlement, road, and terrain layers are integrated instead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identifies where recorded advanced sites are sparse relative to population and access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“Digital divide” here refers to infrastructure distribution, not confirmed signal coverage</a:t>
            </a:r>
            <a:endParaRPr lang="en-US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2AC24B9-2C4D-4EBF-9D45-922DE7A68F94}"/>
              </a:ext>
            </a:extLst>
          </p:cNvPr>
          <p:cNvSpPr/>
          <p:nvPr/>
        </p:nvSpPr>
        <p:spPr>
          <a:xfrm>
            <a:off x="14022493" y="7440058"/>
            <a:ext cx="824744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3645B-5B49-47A5-8F20-27BE51CA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644" y="5759436"/>
            <a:ext cx="5913790" cy="309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8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4">
            <a:extLst>
              <a:ext uri="{FF2B5EF4-FFF2-40B4-BE49-F238E27FC236}">
                <a16:creationId xmlns:a16="http://schemas.microsoft.com/office/drawing/2014/main" id="{A29EE7F1-F6CB-4924-9E2A-7CD5F5AF8687}"/>
              </a:ext>
            </a:extLst>
          </p:cNvPr>
          <p:cNvSpPr/>
          <p:nvPr/>
        </p:nvSpPr>
        <p:spPr>
          <a:xfrm>
            <a:off x="0" y="7372832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sz="3200" dirty="0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2323823E-93DA-4010-BC8B-1E3479EECD3D}"/>
              </a:ext>
            </a:extLst>
          </p:cNvPr>
          <p:cNvSpPr/>
          <p:nvPr/>
        </p:nvSpPr>
        <p:spPr>
          <a:xfrm>
            <a:off x="-17087" y="1258559"/>
            <a:ext cx="12700000" cy="126589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sz="3200"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812BEC1F-81D0-4D30-AEC0-944B4A58C4C6}"/>
              </a:ext>
            </a:extLst>
          </p:cNvPr>
          <p:cNvSpPr/>
          <p:nvPr/>
        </p:nvSpPr>
        <p:spPr>
          <a:xfrm>
            <a:off x="14403451" y="0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sz="3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EF59FC1-6BB7-4F6A-A2AC-16BCAD1AC15F}"/>
              </a:ext>
            </a:extLst>
          </p:cNvPr>
          <p:cNvSpPr/>
          <p:nvPr/>
        </p:nvSpPr>
        <p:spPr>
          <a:xfrm>
            <a:off x="528527" y="298439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2DC2800-B3C2-4B70-A8A8-B60A7B6D8293}"/>
              </a:ext>
            </a:extLst>
          </p:cNvPr>
          <p:cNvSpPr/>
          <p:nvPr/>
        </p:nvSpPr>
        <p:spPr>
          <a:xfrm>
            <a:off x="824728" y="2119859"/>
            <a:ext cx="2923841" cy="273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848A6D1-E799-46F3-9D21-F36AB3C84E1A}"/>
              </a:ext>
            </a:extLst>
          </p:cNvPr>
          <p:cNvSpPr/>
          <p:nvPr/>
        </p:nvSpPr>
        <p:spPr>
          <a:xfrm>
            <a:off x="824728" y="2561075"/>
            <a:ext cx="14999471" cy="541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 assess the spatial suitability of areas in Embu County for potential telecommunication tower placement using GIS.</a:t>
            </a:r>
            <a:endParaRPr lang="en-US" sz="2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34BD7D5-3B8A-484F-9A65-77B39EBAABDD}"/>
              </a:ext>
            </a:extLst>
          </p:cNvPr>
          <p:cNvSpPr/>
          <p:nvPr/>
        </p:nvSpPr>
        <p:spPr>
          <a:xfrm>
            <a:off x="668330" y="3939807"/>
            <a:ext cx="12448841" cy="3520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recorded spatial distribution of cellular infrastructure in Embu County.</a:t>
            </a: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endParaRPr lang="en-US" sz="2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spatial gaps between populated places and recorded advanced (3G/4G/5G) network sites.</a:t>
            </a: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endParaRPr lang="en-US" sz="2000" dirty="0"/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terrain constraints (elevation and slope) relevant to potential infrastructure placement</a:t>
            </a: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endParaRPr lang="en-US" sz="2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infrastructure, settlement, road, and terrain factors using a weighted overlay model.</a:t>
            </a: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endParaRPr lang="en-US" sz="2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candidate zones with higher suitability scores for further investigation.</a:t>
            </a:r>
            <a:endParaRPr lang="en-US" sz="2000" dirty="0"/>
          </a:p>
          <a:p>
            <a:pPr>
              <a:lnSpc>
                <a:spcPct val="115000"/>
              </a:lnSpc>
            </a:pPr>
            <a:endParaRPr lang="en-US" sz="2000" dirty="0"/>
          </a:p>
          <a:p>
            <a:pPr marL="514350" indent="-514350">
              <a:lnSpc>
                <a:spcPct val="115000"/>
              </a:lnSpc>
              <a:buFont typeface="+mj-lt"/>
              <a:buAutoNum type="romanLcPeriod"/>
            </a:pPr>
            <a:endParaRPr lang="en-US" sz="20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26F26E5-ED89-4773-9B40-2738EAEB413A}"/>
              </a:ext>
            </a:extLst>
          </p:cNvPr>
          <p:cNvSpPr/>
          <p:nvPr/>
        </p:nvSpPr>
        <p:spPr>
          <a:xfrm>
            <a:off x="4460447" y="312123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2FCFA35E-0B2C-4C51-AB68-0522946185E0}"/>
              </a:ext>
            </a:extLst>
          </p:cNvPr>
          <p:cNvSpPr/>
          <p:nvPr/>
        </p:nvSpPr>
        <p:spPr>
          <a:xfrm>
            <a:off x="4460447" y="3578437"/>
            <a:ext cx="31821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D61FFF7E-573D-4225-8FCC-638991BD50B0}"/>
              </a:ext>
            </a:extLst>
          </p:cNvPr>
          <p:cNvSpPr/>
          <p:nvPr/>
        </p:nvSpPr>
        <p:spPr>
          <a:xfrm>
            <a:off x="2576783" y="5288365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2EDD522A-25D8-4922-B9D7-91ABEC396D42}"/>
              </a:ext>
            </a:extLst>
          </p:cNvPr>
          <p:cNvSpPr/>
          <p:nvPr/>
        </p:nvSpPr>
        <p:spPr>
          <a:xfrm>
            <a:off x="6344111" y="5288365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038BEC21-F345-41A5-918C-E82A475D477F}"/>
              </a:ext>
            </a:extLst>
          </p:cNvPr>
          <p:cNvSpPr/>
          <p:nvPr/>
        </p:nvSpPr>
        <p:spPr>
          <a:xfrm>
            <a:off x="11327591" y="6504517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8FD21404-D592-4D0F-B59E-36D5CA561B2E}"/>
              </a:ext>
            </a:extLst>
          </p:cNvPr>
          <p:cNvSpPr/>
          <p:nvPr/>
        </p:nvSpPr>
        <p:spPr>
          <a:xfrm>
            <a:off x="11236151" y="6458797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F534034C-B91D-4CC9-90FE-A01BED8F41F2}"/>
              </a:ext>
            </a:extLst>
          </p:cNvPr>
          <p:cNvSpPr/>
          <p:nvPr/>
        </p:nvSpPr>
        <p:spPr>
          <a:xfrm>
            <a:off x="824727" y="3355699"/>
            <a:ext cx="2923841" cy="273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347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4">
            <a:extLst>
              <a:ext uri="{FF2B5EF4-FFF2-40B4-BE49-F238E27FC236}">
                <a16:creationId xmlns:a16="http://schemas.microsoft.com/office/drawing/2014/main" id="{70F715BE-73E0-4432-9440-7E709CEA9751}"/>
              </a:ext>
            </a:extLst>
          </p:cNvPr>
          <p:cNvSpPr/>
          <p:nvPr/>
        </p:nvSpPr>
        <p:spPr>
          <a:xfrm>
            <a:off x="0" y="7372832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CC3CD9D9-4518-4190-A8EB-312CD0E497ED}"/>
              </a:ext>
            </a:extLst>
          </p:cNvPr>
          <p:cNvSpPr/>
          <p:nvPr/>
        </p:nvSpPr>
        <p:spPr>
          <a:xfrm>
            <a:off x="14403451" y="0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32290A96-5CF2-40F1-9CE8-F4247AA5E9AB}"/>
              </a:ext>
            </a:extLst>
          </p:cNvPr>
          <p:cNvSpPr txBox="1">
            <a:spLocks/>
          </p:cNvSpPr>
          <p:nvPr/>
        </p:nvSpPr>
        <p:spPr>
          <a:xfrm>
            <a:off x="1263317" y="3645568"/>
            <a:ext cx="12884484" cy="32563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KE" altLang="en-KE" sz="24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101F12EA-804E-4878-978C-131AEA87B2C9}"/>
              </a:ext>
            </a:extLst>
          </p:cNvPr>
          <p:cNvSpPr/>
          <p:nvPr/>
        </p:nvSpPr>
        <p:spPr>
          <a:xfrm flipV="1">
            <a:off x="22655" y="1115870"/>
            <a:ext cx="14992644" cy="120149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5E0B1FB-113D-4EF9-BF5F-0F290ABCE615}"/>
              </a:ext>
            </a:extLst>
          </p:cNvPr>
          <p:cNvSpPr/>
          <p:nvPr/>
        </p:nvSpPr>
        <p:spPr>
          <a:xfrm>
            <a:off x="453826" y="321769"/>
            <a:ext cx="11647115" cy="540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>
              <a:solidFill>
                <a:srgbClr val="008000"/>
              </a:solidFill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D31C75D-3D1C-495D-A320-75E3649966C0}"/>
              </a:ext>
            </a:extLst>
          </p:cNvPr>
          <p:cNvSpPr/>
          <p:nvPr/>
        </p:nvSpPr>
        <p:spPr>
          <a:xfrm>
            <a:off x="472472" y="1084036"/>
            <a:ext cx="14093009" cy="1158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4400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80219969-82AA-49C0-A603-D7304195F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978715"/>
              </p:ext>
            </p:extLst>
          </p:nvPr>
        </p:nvGraphicFramePr>
        <p:xfrm>
          <a:off x="494177" y="2681143"/>
          <a:ext cx="14390428" cy="467437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5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2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9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County boundary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GADM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Vector polygon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Define study area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Cell site records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OpenCelliD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Point (CSV)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Existing recorded network infrastructure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Roads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HDX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Accessibility factor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Populated places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HDX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Point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Settlement proximity factor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0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DEM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USGS SRTM 30m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Raster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</a:rPr>
                        <a:t>Elevation and slope derivation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4">
            <a:extLst>
              <a:ext uri="{FF2B5EF4-FFF2-40B4-BE49-F238E27FC236}">
                <a16:creationId xmlns:a16="http://schemas.microsoft.com/office/drawing/2014/main" id="{499E9698-217E-45D5-A16E-4394D9B6B405}"/>
              </a:ext>
            </a:extLst>
          </p:cNvPr>
          <p:cNvSpPr/>
          <p:nvPr/>
        </p:nvSpPr>
        <p:spPr>
          <a:xfrm>
            <a:off x="1955800" y="7769656"/>
            <a:ext cx="13394182" cy="185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open-source. Within the study area, OpenCelliD contained 1,341 recorded cell site records , of which 118 were classified as UMTS, LTE, or NR — plus 37 populated places. These are recorded as counts, not a confirmed inventory of every physical site: </a:t>
            </a:r>
            <a:r>
              <a:rPr lang="en-US" sz="2000" i="1" dirty="0" err="1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OpenCelliD</a:t>
            </a:r>
            <a:r>
              <a:rPr lang="en-US" sz="2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crowdsourced and may be incomplete.</a:t>
            </a:r>
            <a:endParaRPr lang="en-US" sz="2000" i="1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526DEA1-CD81-44B5-A125-2458A76EBE6B}"/>
              </a:ext>
            </a:extLst>
          </p:cNvPr>
          <p:cNvSpPr/>
          <p:nvPr/>
        </p:nvSpPr>
        <p:spPr>
          <a:xfrm>
            <a:off x="11552301" y="7815376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C5348F2-B7B1-476E-B2F0-C17FA637A484}"/>
              </a:ext>
            </a:extLst>
          </p:cNvPr>
          <p:cNvSpPr/>
          <p:nvPr/>
        </p:nvSpPr>
        <p:spPr>
          <a:xfrm>
            <a:off x="11460861" y="77696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0141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4">
            <a:extLst>
              <a:ext uri="{FF2B5EF4-FFF2-40B4-BE49-F238E27FC236}">
                <a16:creationId xmlns:a16="http://schemas.microsoft.com/office/drawing/2014/main" id="{2C3CA94A-BF11-4DCA-B9CA-EDB1441A39D4}"/>
              </a:ext>
            </a:extLst>
          </p:cNvPr>
          <p:cNvSpPr/>
          <p:nvPr/>
        </p:nvSpPr>
        <p:spPr>
          <a:xfrm>
            <a:off x="0" y="7372350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42A9AFBB-4EE7-4953-8C13-1E0CA8A469FE}"/>
              </a:ext>
            </a:extLst>
          </p:cNvPr>
          <p:cNvSpPr/>
          <p:nvPr/>
        </p:nvSpPr>
        <p:spPr>
          <a:xfrm>
            <a:off x="14403070" y="3313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C35A8513-40B3-4708-BD7D-BC2784072886}"/>
              </a:ext>
            </a:extLst>
          </p:cNvPr>
          <p:cNvSpPr txBox="1">
            <a:spLocks/>
          </p:cNvSpPr>
          <p:nvPr/>
        </p:nvSpPr>
        <p:spPr>
          <a:xfrm>
            <a:off x="787400" y="1410463"/>
            <a:ext cx="12477115" cy="740452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sz="24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12">
            <a:extLst>
              <a:ext uri="{FF2B5EF4-FFF2-40B4-BE49-F238E27FC236}">
                <a16:creationId xmlns:a16="http://schemas.microsoft.com/office/drawing/2014/main" id="{0143AA19-3D6C-4850-9C8A-0B03D352552E}"/>
              </a:ext>
            </a:extLst>
          </p:cNvPr>
          <p:cNvSpPr/>
          <p:nvPr/>
        </p:nvSpPr>
        <p:spPr>
          <a:xfrm>
            <a:off x="0" y="1053676"/>
            <a:ext cx="14605000" cy="150634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B46CF-1032-4FB5-868B-D5AAE06E93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t>5</a:t>
            </a:fld>
            <a:endParaRPr lang="en-KE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9B4F9FC1-4AC3-4196-992F-487776D2E9B0}"/>
              </a:ext>
            </a:extLst>
          </p:cNvPr>
          <p:cNvSpPr/>
          <p:nvPr/>
        </p:nvSpPr>
        <p:spPr>
          <a:xfrm>
            <a:off x="673750" y="237230"/>
            <a:ext cx="12367658" cy="505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1</a:t>
            </a:r>
            <a:endParaRPr lang="en-US" sz="1600" dirty="0">
              <a:solidFill>
                <a:srgbClr val="008000"/>
              </a:solidFill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D79BB56-0AED-4074-832C-04F2CA21B44F}"/>
              </a:ext>
            </a:extLst>
          </p:cNvPr>
          <p:cNvSpPr/>
          <p:nvPr/>
        </p:nvSpPr>
        <p:spPr>
          <a:xfrm>
            <a:off x="495265" y="1410463"/>
            <a:ext cx="14964868" cy="1083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Google Earth Engine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7F6EF75-6E56-40B4-947C-98938E0BEA86}"/>
              </a:ext>
            </a:extLst>
          </p:cNvPr>
          <p:cNvSpPr/>
          <p:nvPr/>
        </p:nvSpPr>
        <p:spPr>
          <a:xfrm>
            <a:off x="698171" y="2489455"/>
            <a:ext cx="7760066" cy="6172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OpenCelliD CSV required filtering by the radio field (2G vs 3G/4G/5G) before use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calculations (site-to-site, site-to-settlement, site-to-road) across the full county are computationally heavy in desktop GIS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GEE's server-side raster/vector processing handled these operations without the geometry and rendering lag QGIS showed on the full dataset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filtering, distance calculation, normalization, and weighted overlay were performed in GEE using JavaScript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was used afterward, purely for final cartographic layout</a:t>
            </a:r>
            <a:endParaRPr lang="en-US" sz="1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1151A05-DBAE-43E8-9FB8-468303FF201D}"/>
              </a:ext>
            </a:extLst>
          </p:cNvPr>
          <p:cNvSpPr/>
          <p:nvPr/>
        </p:nvSpPr>
        <p:spPr>
          <a:xfrm>
            <a:off x="10125108" y="7534015"/>
            <a:ext cx="5318092" cy="433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code editor — radio field filter for GSM ,UMTS ,LTE </a:t>
            </a:r>
            <a:endParaRPr lang="en-US" sz="10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70FCA2F5-9359-4FAD-B25E-F5A56293657B}"/>
              </a:ext>
            </a:extLst>
          </p:cNvPr>
          <p:cNvSpPr/>
          <p:nvPr/>
        </p:nvSpPr>
        <p:spPr>
          <a:xfrm>
            <a:off x="11761350" y="7152896"/>
            <a:ext cx="742059" cy="4332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0E428-7783-4C9B-8154-C54384E4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372" y="2144583"/>
            <a:ext cx="7298559" cy="496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2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593E2DF-C457-4E84-A3B6-EFBA819A5B28}"/>
              </a:ext>
            </a:extLst>
          </p:cNvPr>
          <p:cNvSpPr/>
          <p:nvPr/>
        </p:nvSpPr>
        <p:spPr>
          <a:xfrm>
            <a:off x="0" y="7448550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008FB7C6-C264-4B6D-9B95-E318CA9168FC}"/>
              </a:ext>
            </a:extLst>
          </p:cNvPr>
          <p:cNvSpPr/>
          <p:nvPr/>
        </p:nvSpPr>
        <p:spPr>
          <a:xfrm>
            <a:off x="14403070" y="-9939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33770A55-850F-4AB2-827F-AD73C2B5C0EB}"/>
              </a:ext>
            </a:extLst>
          </p:cNvPr>
          <p:cNvSpPr/>
          <p:nvPr/>
        </p:nvSpPr>
        <p:spPr>
          <a:xfrm flipV="1">
            <a:off x="-31531" y="1721732"/>
            <a:ext cx="14992644" cy="12125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CCD30B0-1465-443E-91FC-2B0CF2026A92}"/>
              </a:ext>
            </a:extLst>
          </p:cNvPr>
          <p:cNvSpPr/>
          <p:nvPr/>
        </p:nvSpPr>
        <p:spPr>
          <a:xfrm>
            <a:off x="1087120" y="19885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2</a:t>
            </a:r>
            <a:endParaRPr lang="en-US" sz="1200" dirty="0">
              <a:solidFill>
                <a:srgbClr val="008000"/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7ACCA69-4A52-4330-A33B-DCA56C1941E3}"/>
              </a:ext>
            </a:extLst>
          </p:cNvPr>
          <p:cNvSpPr/>
          <p:nvPr/>
        </p:nvSpPr>
        <p:spPr>
          <a:xfrm>
            <a:off x="1087120" y="79267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Suitability Model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5C83E19-8229-4CB8-9577-C3BFEF5FE826}"/>
              </a:ext>
            </a:extLst>
          </p:cNvPr>
          <p:cNvSpPr/>
          <p:nvPr/>
        </p:nvSpPr>
        <p:spPr>
          <a:xfrm>
            <a:off x="1224280" y="2788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Used</a:t>
            </a:r>
            <a:endParaRPr lang="en-US" sz="1600" dirty="0">
              <a:solidFill>
                <a:srgbClr val="008000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BDAADF7-FBD4-43EB-83CB-067D56407ACA}"/>
              </a:ext>
            </a:extLst>
          </p:cNvPr>
          <p:cNvSpPr/>
          <p:nvPr/>
        </p:nvSpPr>
        <p:spPr>
          <a:xfrm>
            <a:off x="1224280" y="32004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populated places (settlement proximity)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recorded advanced network sites (infrastructure gap proxy)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roads (accessibility)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— areas above 25° excluded from the model</a:t>
            </a:r>
            <a:endParaRPr lang="en-US" sz="13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C7CE05A-0D39-4B82-9D0C-F26F686636EA}"/>
              </a:ext>
            </a:extLst>
          </p:cNvPr>
          <p:cNvSpPr/>
          <p:nvPr/>
        </p:nvSpPr>
        <p:spPr>
          <a:xfrm>
            <a:off x="6939280" y="2788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Overlay</a:t>
            </a:r>
            <a:endParaRPr lang="en-US" sz="1600" dirty="0">
              <a:solidFill>
                <a:srgbClr val="008000"/>
              </a:solidFill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4B6FC87D-D15D-4A20-81FE-68988386E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52103"/>
              </p:ext>
            </p:extLst>
          </p:nvPr>
        </p:nvGraphicFramePr>
        <p:xfrm>
          <a:off x="6939280" y="3200400"/>
          <a:ext cx="5394960" cy="2194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Weight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Settlement proximity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35%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Distance from advanced sites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Road accessibility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Elevation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Slope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6">
            <a:extLst>
              <a:ext uri="{FF2B5EF4-FFF2-40B4-BE49-F238E27FC236}">
                <a16:creationId xmlns:a16="http://schemas.microsoft.com/office/drawing/2014/main" id="{D6565B38-404E-4685-B6FD-7264C708B268}"/>
              </a:ext>
            </a:extLst>
          </p:cNvPr>
          <p:cNvSpPr/>
          <p:nvPr/>
        </p:nvSpPr>
        <p:spPr>
          <a:xfrm>
            <a:off x="1224280" y="6172200"/>
            <a:ext cx="11091672" cy="105156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26E4721F-23A9-40C0-9A2E-C1582500E4CE}"/>
              </a:ext>
            </a:extLst>
          </p:cNvPr>
          <p:cNvSpPr/>
          <p:nvPr/>
        </p:nvSpPr>
        <p:spPr>
          <a:xfrm>
            <a:off x="149860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 = 0.35P + 0.25G + 0.20R + 0.10E + 0.10T</a:t>
            </a:r>
            <a:endParaRPr lang="en-US" sz="18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53E81F3-BED3-4BBE-A493-97F734577962}"/>
              </a:ext>
            </a:extLst>
          </p:cNvPr>
          <p:cNvSpPr/>
          <p:nvPr/>
        </p:nvSpPr>
        <p:spPr>
          <a:xfrm>
            <a:off x="1498600" y="6720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 = suitability score · P = settlement proximity · G = infrastructure-gap suitability · R = road accessibility · E = elevation · T = slope</a:t>
            </a:r>
            <a:endParaRPr lang="en-US" sz="12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E5C2A8D-F468-44EB-852D-9C3C38903421}"/>
              </a:ext>
            </a:extLst>
          </p:cNvPr>
          <p:cNvSpPr/>
          <p:nvPr/>
        </p:nvSpPr>
        <p:spPr>
          <a:xfrm>
            <a:off x="12041632" y="7498080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47136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7372832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4403070" y="3313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12">
            <a:extLst>
              <a:ext uri="{FF2B5EF4-FFF2-40B4-BE49-F238E27FC236}">
                <a16:creationId xmlns:a16="http://schemas.microsoft.com/office/drawing/2014/main" id="{5E9E2734-16FA-46CE-9B08-64B14BB90D42}"/>
              </a:ext>
            </a:extLst>
          </p:cNvPr>
          <p:cNvSpPr/>
          <p:nvPr/>
        </p:nvSpPr>
        <p:spPr>
          <a:xfrm>
            <a:off x="0" y="837912"/>
            <a:ext cx="14605000" cy="12747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66C2D76F-9D96-498A-A955-6BD256AE5D9A}"/>
              </a:ext>
            </a:extLst>
          </p:cNvPr>
          <p:cNvSpPr/>
          <p:nvPr/>
        </p:nvSpPr>
        <p:spPr>
          <a:xfrm>
            <a:off x="548640" y="98679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3</a:t>
            </a:r>
            <a:endParaRPr lang="en-US" sz="1200" dirty="0">
              <a:solidFill>
                <a:srgbClr val="008000"/>
              </a:solidFill>
            </a:endParaRP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FB8028F3-0BAD-43D6-AE70-4769961C3593}"/>
              </a:ext>
            </a:extLst>
          </p:cNvPr>
          <p:cNvSpPr/>
          <p:nvPr/>
        </p:nvSpPr>
        <p:spPr>
          <a:xfrm>
            <a:off x="576072" y="10078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QGIS Cartography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6A9FE03-5438-4946-868E-FA42620301B8}"/>
              </a:ext>
            </a:extLst>
          </p:cNvPr>
          <p:cNvSpPr/>
          <p:nvPr/>
        </p:nvSpPr>
        <p:spPr>
          <a:xfrm>
            <a:off x="486482" y="2385602"/>
            <a:ext cx="672711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rasters (suitability surface, slope) and vector outputs exported from GEE as GeoTIFF / Shapefile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into QGIS for symbolization, layout, and final map production only — no further spatial analysis performed in QGIS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cartographic elements applied: legend, north arrow, scale bar, coordinate grid, source labels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CRS: WGS 84 / UTM Zone 37S — EPSG:32737</a:t>
            </a:r>
            <a:endParaRPr lang="en-US" sz="15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8EBE42EC-8EDA-4690-866F-4ED7BBC2D2A7}"/>
              </a:ext>
            </a:extLst>
          </p:cNvPr>
          <p:cNvSpPr/>
          <p:nvPr/>
        </p:nvSpPr>
        <p:spPr>
          <a:xfrm>
            <a:off x="9308592" y="8153255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Layers panel + Print Layout of the final map composition</a:t>
            </a:r>
            <a:endParaRPr lang="en-US" sz="1050" dirty="0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7C3D93D1-1CE5-4B37-A4A6-8AA9E4C7986C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3193A2C2-09E0-4067-ADF7-0A44D898672A}"/>
              </a:ext>
            </a:extLst>
          </p:cNvPr>
          <p:cNvSpPr/>
          <p:nvPr/>
        </p:nvSpPr>
        <p:spPr>
          <a:xfrm>
            <a:off x="11274552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B68927F-9BD5-431C-8A08-56442E7DEA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314"/>
          <a:stretch/>
        </p:blipFill>
        <p:spPr>
          <a:xfrm>
            <a:off x="7718143" y="1764974"/>
            <a:ext cx="7844338" cy="557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2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7372832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4403451" y="0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01C43808-E976-46AF-82F9-6DF147BE381D}"/>
              </a:ext>
            </a:extLst>
          </p:cNvPr>
          <p:cNvSpPr/>
          <p:nvPr/>
        </p:nvSpPr>
        <p:spPr>
          <a:xfrm>
            <a:off x="1582381" y="-4943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MAP 1</a:t>
            </a:r>
            <a:endParaRPr lang="en-US" sz="1200" dirty="0">
              <a:solidFill>
                <a:srgbClr val="008000"/>
              </a:solidFill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39557B5-15E9-4EE0-B44D-1DB4D4A9B205}"/>
              </a:ext>
            </a:extLst>
          </p:cNvPr>
          <p:cNvSpPr/>
          <p:nvPr/>
        </p:nvSpPr>
        <p:spPr>
          <a:xfrm>
            <a:off x="1582381" y="489429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Existing Sites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1AE0304-8DE9-4A16-BBA6-92D457A362FF}"/>
              </a:ext>
            </a:extLst>
          </p:cNvPr>
          <p:cNvSpPr/>
          <p:nvPr/>
        </p:nvSpPr>
        <p:spPr>
          <a:xfrm>
            <a:off x="1741172" y="1725946"/>
            <a:ext cx="11091672" cy="0"/>
          </a:xfrm>
          <a:prstGeom prst="line">
            <a:avLst/>
          </a:prstGeom>
          <a:noFill/>
          <a:ln w="12700">
            <a:solidFill>
              <a:srgbClr val="D6DCE8"/>
            </a:solidFill>
            <a:prstDash val="solid"/>
          </a:ln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0368B575-AF8B-4C54-86CC-C89BD9BE4E78}"/>
              </a:ext>
            </a:extLst>
          </p:cNvPr>
          <p:cNvSpPr/>
          <p:nvPr/>
        </p:nvSpPr>
        <p:spPr>
          <a:xfrm>
            <a:off x="2015492" y="3605038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Map]</a:t>
            </a:r>
            <a:endParaRPr lang="en-US" sz="14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6DBE9FA-8405-4719-A226-F06C8414CC10}"/>
              </a:ext>
            </a:extLst>
          </p:cNvPr>
          <p:cNvSpPr/>
          <p:nvPr/>
        </p:nvSpPr>
        <p:spPr>
          <a:xfrm>
            <a:off x="700259" y="684959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and Existing Infrastructure — cell sites, advanced sites, roads, populated places, county boundary</a:t>
            </a:r>
            <a:endParaRPr lang="en-US" sz="105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B146EDC8-2EA2-44D6-AFD7-D6C99F5C6B9C}"/>
              </a:ext>
            </a:extLst>
          </p:cNvPr>
          <p:cNvSpPr/>
          <p:nvPr/>
        </p:nvSpPr>
        <p:spPr>
          <a:xfrm>
            <a:off x="12558524" y="6736858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A43F8DBE-895C-4097-AC57-1E1A4D0FA4F2}"/>
              </a:ext>
            </a:extLst>
          </p:cNvPr>
          <p:cNvSpPr/>
          <p:nvPr/>
        </p:nvSpPr>
        <p:spPr>
          <a:xfrm>
            <a:off x="12467084" y="669113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36718F9-634E-462F-B4FE-7948D33F8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1680226"/>
            <a:ext cx="9592015" cy="5023800"/>
          </a:xfrm>
          <a:prstGeom prst="rect">
            <a:avLst/>
          </a:prstGeom>
        </p:spPr>
      </p:pic>
      <p:sp>
        <p:nvSpPr>
          <p:cNvPr id="26" name="object 12">
            <a:extLst>
              <a:ext uri="{FF2B5EF4-FFF2-40B4-BE49-F238E27FC236}">
                <a16:creationId xmlns:a16="http://schemas.microsoft.com/office/drawing/2014/main" id="{E7937043-0548-41DF-A4B8-D8FBAC0D530E}"/>
              </a:ext>
            </a:extLst>
          </p:cNvPr>
          <p:cNvSpPr/>
          <p:nvPr/>
        </p:nvSpPr>
        <p:spPr>
          <a:xfrm>
            <a:off x="279400" y="1213651"/>
            <a:ext cx="14605000" cy="12747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33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7372832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4403451" y="0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97EDB-C4A3-410F-BB2E-9E38DC990B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t>9</a:t>
            </a:fld>
            <a:endParaRPr lang="en-KE"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4A39AB1D-B943-4520-916D-906AB4E8A79A}"/>
              </a:ext>
            </a:extLst>
          </p:cNvPr>
          <p:cNvSpPr/>
          <p:nvPr/>
        </p:nvSpPr>
        <p:spPr>
          <a:xfrm>
            <a:off x="0" y="929092"/>
            <a:ext cx="14605000" cy="12747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9BDF044A-43CD-4E11-98B7-2A28F6BE1BBF}"/>
              </a:ext>
            </a:extLst>
          </p:cNvPr>
          <p:cNvSpPr/>
          <p:nvPr/>
        </p:nvSpPr>
        <p:spPr>
          <a:xfrm>
            <a:off x="1410969" y="43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MAP 2</a:t>
            </a:r>
            <a:endParaRPr lang="en-US" sz="1200" dirty="0">
              <a:solidFill>
                <a:srgbClr val="008000"/>
              </a:solidFill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37C1455-9064-4974-9619-9ADD71BB024B}"/>
              </a:ext>
            </a:extLst>
          </p:cNvPr>
          <p:cNvSpPr/>
          <p:nvPr/>
        </p:nvSpPr>
        <p:spPr>
          <a:xfrm>
            <a:off x="1410969" y="38839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Terrain Constraints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44AF257-569E-4471-8B2E-31ADE969AA2F}"/>
              </a:ext>
            </a:extLst>
          </p:cNvPr>
          <p:cNvSpPr/>
          <p:nvPr/>
        </p:nvSpPr>
        <p:spPr>
          <a:xfrm>
            <a:off x="1342620" y="7909221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Terrain and Accessibility Constraints  slope classification, areas excluded above 25°, road network</a:t>
            </a:r>
            <a:endParaRPr lang="en-US" sz="12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9D90E458-90EB-4481-9D75-7C90090F6AE7}"/>
              </a:ext>
            </a:extLst>
          </p:cNvPr>
          <p:cNvSpPr/>
          <p:nvPr/>
        </p:nvSpPr>
        <p:spPr>
          <a:xfrm>
            <a:off x="12630148" y="7023682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C91057A-283A-497B-BC7F-794889FFD0EA}"/>
              </a:ext>
            </a:extLst>
          </p:cNvPr>
          <p:cNvSpPr/>
          <p:nvPr/>
        </p:nvSpPr>
        <p:spPr>
          <a:xfrm>
            <a:off x="12538708" y="697796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C36FA8-52A2-468C-B79C-532CBB92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792" y="2050748"/>
            <a:ext cx="10129608" cy="520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93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95" y="7351811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4403946" y="-21021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14C1D1-510A-43D9-8437-1014D4C7B4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t>10</a:t>
            </a:fld>
            <a:endParaRPr lang="en-KE"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6B79E3E8-1892-4CC3-8AFB-34A14FC8D0C5}"/>
              </a:ext>
            </a:extLst>
          </p:cNvPr>
          <p:cNvSpPr/>
          <p:nvPr/>
        </p:nvSpPr>
        <p:spPr>
          <a:xfrm>
            <a:off x="0" y="929092"/>
            <a:ext cx="14605000" cy="12747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9A99751F-E31E-4A08-839B-33B25830C2AB}"/>
              </a:ext>
            </a:extLst>
          </p:cNvPr>
          <p:cNvSpPr/>
          <p:nvPr/>
        </p:nvSpPr>
        <p:spPr>
          <a:xfrm>
            <a:off x="550949" y="-21021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MAP 3</a:t>
            </a:r>
            <a:endParaRPr lang="en-US" sz="1200" dirty="0">
              <a:solidFill>
                <a:srgbClr val="008000"/>
              </a:solidFill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21F0D31-621C-4DAF-8753-FA19A9DA57AE}"/>
              </a:ext>
            </a:extLst>
          </p:cNvPr>
          <p:cNvSpPr/>
          <p:nvPr/>
        </p:nvSpPr>
        <p:spPr>
          <a:xfrm>
            <a:off x="550949" y="24543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Site Suitability Analysis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DEE87AC-3948-4CA9-BF74-13534732C78E}"/>
              </a:ext>
            </a:extLst>
          </p:cNvPr>
          <p:cNvSpPr/>
          <p:nvPr/>
        </p:nvSpPr>
        <p:spPr>
          <a:xfrm>
            <a:off x="1772145" y="814397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Spatial Suitability Map — classes: Highly Suitable / Moderate / Low / Unsuitable</a:t>
            </a:r>
            <a:endParaRPr lang="en-US" sz="10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7330349-B6DD-4369-B509-ACC4CB2399C9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FE4C02D-A568-4932-861C-3126A1059384}"/>
              </a:ext>
            </a:extLst>
          </p:cNvPr>
          <p:cNvSpPr/>
          <p:nvPr/>
        </p:nvSpPr>
        <p:spPr>
          <a:xfrm>
            <a:off x="11274552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0A06F-EAC8-40B0-85BB-863D843E7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" y="1723395"/>
            <a:ext cx="12120880" cy="590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3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4">
            <a:extLst>
              <a:ext uri="{FF2B5EF4-FFF2-40B4-BE49-F238E27FC236}">
                <a16:creationId xmlns:a16="http://schemas.microsoft.com/office/drawing/2014/main" id="{6E95CE10-91CB-4055-ABD5-157F4AE51096}"/>
              </a:ext>
            </a:extLst>
          </p:cNvPr>
          <p:cNvSpPr/>
          <p:nvPr/>
        </p:nvSpPr>
        <p:spPr>
          <a:xfrm>
            <a:off x="28648" y="7379607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62A774F0-286D-43E1-ADA0-A6021CCECA81}"/>
              </a:ext>
            </a:extLst>
          </p:cNvPr>
          <p:cNvSpPr/>
          <p:nvPr/>
        </p:nvSpPr>
        <p:spPr>
          <a:xfrm>
            <a:off x="14432099" y="6775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FA5EC-7FB4-4120-A1E0-25F3D925E8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t>11</a:t>
            </a:fld>
            <a:endParaRPr lang="en-KE"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D165FF25-835D-476A-9E1B-30F534B86894}"/>
              </a:ext>
            </a:extLst>
          </p:cNvPr>
          <p:cNvSpPr/>
          <p:nvPr/>
        </p:nvSpPr>
        <p:spPr>
          <a:xfrm>
            <a:off x="0" y="944296"/>
            <a:ext cx="14605000" cy="127478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6E52FDD-7AB4-4C53-978D-BF7C4784589A}"/>
              </a:ext>
            </a:extLst>
          </p:cNvPr>
          <p:cNvSpPr/>
          <p:nvPr/>
        </p:nvSpPr>
        <p:spPr>
          <a:xfrm>
            <a:off x="457200" y="1828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Policy Implications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BB9CEAA-5E0E-470A-A4AE-276E6920EAB5}"/>
              </a:ext>
            </a:extLst>
          </p:cNvPr>
          <p:cNvSpPr/>
          <p:nvPr/>
        </p:nvSpPr>
        <p:spPr>
          <a:xfrm>
            <a:off x="548640" y="178308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–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suitability areas represent locations satisfying more of the selected criteria under this weighting scheme not confirmed optimal tower sites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–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areas tend to sit near populated places and roads, and farther from recorded advanced sites, consistent with the model's design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–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relevance: candidate zones can guide where to prioritize field assessment and operator engagement, not where to build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–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exclusions show physical siting constraints that exist independent of demand</a:t>
            </a:r>
            <a:endParaRPr lang="en-US" sz="16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FACA9F1-30AD-412E-8D15-68EC342D3D55}"/>
              </a:ext>
            </a:extLst>
          </p:cNvPr>
          <p:cNvSpPr/>
          <p:nvPr/>
        </p:nvSpPr>
        <p:spPr>
          <a:xfrm>
            <a:off x="548640" y="4709160"/>
            <a:ext cx="544068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E098E74-469D-4ECB-85F8-E3A2B3E2E224}"/>
              </a:ext>
            </a:extLst>
          </p:cNvPr>
          <p:cNvSpPr/>
          <p:nvPr/>
        </p:nvSpPr>
        <p:spPr>
          <a:xfrm>
            <a:off x="77724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DO show</a:t>
            </a:r>
            <a:endParaRPr lang="en-US" sz="13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0483F61-650A-47D6-A982-97534CB4DCE3}"/>
              </a:ext>
            </a:extLst>
          </p:cNvPr>
          <p:cNvSpPr/>
          <p:nvPr/>
        </p:nvSpPr>
        <p:spPr>
          <a:xfrm>
            <a:off x="777240" y="5166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zones for further technical and field investigation, based on the selected spatial criteria and weights.</a:t>
            </a:r>
            <a:endParaRPr lang="en-US" sz="12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EAF9041-D23B-4B06-91F6-C2529633FB61}"/>
              </a:ext>
            </a:extLst>
          </p:cNvPr>
          <p:cNvSpPr/>
          <p:nvPr/>
        </p:nvSpPr>
        <p:spPr>
          <a:xfrm>
            <a:off x="6199632" y="4709160"/>
            <a:ext cx="544068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1FE298B-54EC-48DD-BB9F-3BAEEB85F24B}"/>
              </a:ext>
            </a:extLst>
          </p:cNvPr>
          <p:cNvSpPr/>
          <p:nvPr/>
        </p:nvSpPr>
        <p:spPr>
          <a:xfrm>
            <a:off x="6428232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DO NOT show</a:t>
            </a:r>
            <a:endParaRPr lang="en-US" sz="13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51004E7-8A58-4C27-A0C6-861A4345599F}"/>
              </a:ext>
            </a:extLst>
          </p:cNvPr>
          <p:cNvSpPr/>
          <p:nvPr/>
        </p:nvSpPr>
        <p:spPr>
          <a:xfrm>
            <a:off x="6428232" y="5166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signal strength, guaranteed coverage improvement, or confirmed final tower locations.</a:t>
            </a:r>
            <a:endParaRPr lang="en-US" sz="12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AB15387E-2AD1-4DB9-93E9-26688E7A9143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18CB8F81-4704-4CCD-86C9-644729150292}"/>
              </a:ext>
            </a:extLst>
          </p:cNvPr>
          <p:cNvSpPr/>
          <p:nvPr/>
        </p:nvSpPr>
        <p:spPr>
          <a:xfrm>
            <a:off x="11274552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128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D7B4AF18-1B87-413F-9951-14ED85AA4FBE}"/>
              </a:ext>
            </a:extLst>
          </p:cNvPr>
          <p:cNvSpPr/>
          <p:nvPr/>
        </p:nvSpPr>
        <p:spPr>
          <a:xfrm>
            <a:off x="0" y="7372832"/>
            <a:ext cx="1771650" cy="1771650"/>
          </a:xfrm>
          <a:custGeom>
            <a:avLst/>
            <a:gdLst/>
            <a:ahLst/>
            <a:cxnLst/>
            <a:rect l="l" t="t" r="r" b="b"/>
            <a:pathLst>
              <a:path w="1771650" h="1771650">
                <a:moveTo>
                  <a:pt x="0" y="0"/>
                </a:moveTo>
                <a:lnTo>
                  <a:pt x="0" y="1771167"/>
                </a:lnTo>
                <a:lnTo>
                  <a:pt x="1771154" y="1771167"/>
                </a:lnTo>
                <a:lnTo>
                  <a:pt x="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0C77D3B-42EC-4A67-A1A4-A89A9B906463}"/>
              </a:ext>
            </a:extLst>
          </p:cNvPr>
          <p:cNvSpPr/>
          <p:nvPr/>
        </p:nvSpPr>
        <p:spPr>
          <a:xfrm>
            <a:off x="14403451" y="0"/>
            <a:ext cx="1852930" cy="1852930"/>
          </a:xfrm>
          <a:custGeom>
            <a:avLst/>
            <a:gdLst/>
            <a:ahLst/>
            <a:cxnLst/>
            <a:rect l="l" t="t" r="r" b="b"/>
            <a:pathLst>
              <a:path w="1852930" h="1852930">
                <a:moveTo>
                  <a:pt x="1852523" y="0"/>
                </a:moveTo>
                <a:lnTo>
                  <a:pt x="0" y="0"/>
                </a:lnTo>
                <a:lnTo>
                  <a:pt x="1852523" y="1852523"/>
                </a:lnTo>
                <a:lnTo>
                  <a:pt x="1852523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12ECF2B4-6D29-4786-863E-DBFAD5BC3DB8}"/>
              </a:ext>
            </a:extLst>
          </p:cNvPr>
          <p:cNvSpPr/>
          <p:nvPr/>
        </p:nvSpPr>
        <p:spPr>
          <a:xfrm>
            <a:off x="0" y="1571308"/>
            <a:ext cx="13362940" cy="142240"/>
          </a:xfrm>
          <a:custGeom>
            <a:avLst/>
            <a:gdLst/>
            <a:ahLst/>
            <a:cxnLst/>
            <a:rect l="l" t="t" r="r" b="b"/>
            <a:pathLst>
              <a:path w="13362940" h="142239">
                <a:moveTo>
                  <a:pt x="13362940" y="0"/>
                </a:moveTo>
                <a:lnTo>
                  <a:pt x="0" y="0"/>
                </a:lnTo>
                <a:lnTo>
                  <a:pt x="0" y="142240"/>
                </a:lnTo>
                <a:lnTo>
                  <a:pt x="13362940" y="142240"/>
                </a:lnTo>
                <a:lnTo>
                  <a:pt x="13362940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F2B3921-FF74-472B-BBD3-2BCA476B5F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t>12</a:t>
            </a:fld>
            <a:endParaRPr lang="en-KE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A3A14191-989E-4FE2-8762-719BED65FB90}"/>
              </a:ext>
            </a:extLst>
          </p:cNvPr>
          <p:cNvSpPr/>
          <p:nvPr/>
        </p:nvSpPr>
        <p:spPr>
          <a:xfrm>
            <a:off x="640080" y="323173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>
              <a:solidFill>
                <a:srgbClr val="008000"/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11786FC-770A-44C7-9E42-2F8A82046BA5}"/>
              </a:ext>
            </a:extLst>
          </p:cNvPr>
          <p:cNvSpPr/>
          <p:nvPr/>
        </p:nvSpPr>
        <p:spPr>
          <a:xfrm>
            <a:off x="548640" y="1783080"/>
            <a:ext cx="3547872" cy="502920"/>
          </a:xfrm>
          <a:prstGeom prst="rect">
            <a:avLst/>
          </a:prstGeom>
          <a:noFill/>
          <a:ln/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45E99FA-9030-4B4F-9B2A-1FFAF8271FF2}"/>
              </a:ext>
            </a:extLst>
          </p:cNvPr>
          <p:cNvSpPr/>
          <p:nvPr/>
        </p:nvSpPr>
        <p:spPr>
          <a:xfrm>
            <a:off x="731520" y="17830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9533D4E-C3EB-4DFD-ADA7-35DBB98866ED}"/>
              </a:ext>
            </a:extLst>
          </p:cNvPr>
          <p:cNvSpPr/>
          <p:nvPr/>
        </p:nvSpPr>
        <p:spPr>
          <a:xfrm>
            <a:off x="731520" y="2468880"/>
            <a:ext cx="318211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OpenCelliD is crowdsourced — may not capture every operational site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Does not model RF propagation (signal strength, path loss, link budget)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points do not represent exact population counts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the chosen factor weights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field verification was conducted</a:t>
            </a:r>
            <a:endParaRPr lang="en-US" sz="115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604FAFEA-7AE1-4696-8438-076808E8B1CB}"/>
              </a:ext>
            </a:extLst>
          </p:cNvPr>
          <p:cNvSpPr/>
          <p:nvPr/>
        </p:nvSpPr>
        <p:spPr>
          <a:xfrm>
            <a:off x="4315968" y="1783080"/>
            <a:ext cx="3547872" cy="502920"/>
          </a:xfrm>
          <a:prstGeom prst="rect">
            <a:avLst/>
          </a:prstGeom>
          <a:noFill/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E5EC45C-9977-42E0-9F6B-5F4144161507}"/>
              </a:ext>
            </a:extLst>
          </p:cNvPr>
          <p:cNvSpPr/>
          <p:nvPr/>
        </p:nvSpPr>
        <p:spPr>
          <a:xfrm>
            <a:off x="4498848" y="17830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4A42F3F-74FB-4436-9FA6-4B60918F00B1}"/>
              </a:ext>
            </a:extLst>
          </p:cNvPr>
          <p:cNvSpPr/>
          <p:nvPr/>
        </p:nvSpPr>
        <p:spPr>
          <a:xfrm>
            <a:off x="4498848" y="2468880"/>
            <a:ext cx="318211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GIS was used to integrate recorded infrastructure, settlement, road, and terrain data into a single spatial analysis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set of candidate areas with higher suitability scores for potential future infrastructure in Embu County</a:t>
            </a:r>
            <a:endParaRPr lang="en-US" sz="11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03808A05-5B31-4127-BB41-1646D32A0A15}"/>
              </a:ext>
            </a:extLst>
          </p:cNvPr>
          <p:cNvSpPr/>
          <p:nvPr/>
        </p:nvSpPr>
        <p:spPr>
          <a:xfrm>
            <a:off x="8083296" y="1783080"/>
            <a:ext cx="3547872" cy="502920"/>
          </a:xfrm>
          <a:prstGeom prst="rect">
            <a:avLst/>
          </a:prstGeom>
          <a:noFill/>
          <a:ln/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41C57A5-63EF-425A-94BB-68AB25E99901}"/>
              </a:ext>
            </a:extLst>
          </p:cNvPr>
          <p:cNvSpPr/>
          <p:nvPr/>
        </p:nvSpPr>
        <p:spPr>
          <a:xfrm>
            <a:off x="8266176" y="17830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E4D8F66-8699-4779-8481-FCAC3635C7DA}"/>
              </a:ext>
            </a:extLst>
          </p:cNvPr>
          <p:cNvSpPr/>
          <p:nvPr/>
        </p:nvSpPr>
        <p:spPr>
          <a:xfrm>
            <a:off x="8266176" y="2468880"/>
            <a:ext cx="318211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Field-verify candidate areas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Obtain more complete infrastructure data where possible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 RF propagation analysis before any siting decision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Font typeface="+mj-lt"/>
              <a:buAutoNum type="romanLcPeriod"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Consult network operators for engineering validation</a:t>
            </a:r>
            <a:endParaRPr lang="en-US" sz="115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3F76F90C-D395-4608-9B0D-61B6A8CA9FDD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AB7FA50B-0C61-41C1-9A3B-2D342ACEC909}"/>
              </a:ext>
            </a:extLst>
          </p:cNvPr>
          <p:cNvSpPr/>
          <p:nvPr/>
        </p:nvSpPr>
        <p:spPr>
          <a:xfrm>
            <a:off x="11274552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1290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583" y="-24130"/>
            <a:ext cx="5071745" cy="5071745"/>
          </a:xfrm>
          <a:custGeom>
            <a:avLst/>
            <a:gdLst/>
            <a:ahLst/>
            <a:cxnLst/>
            <a:rect l="l" t="t" r="r" b="b"/>
            <a:pathLst>
              <a:path w="5071745" h="5071745">
                <a:moveTo>
                  <a:pt x="5071338" y="0"/>
                </a:moveTo>
                <a:lnTo>
                  <a:pt x="0" y="0"/>
                </a:lnTo>
                <a:lnTo>
                  <a:pt x="0" y="5071351"/>
                </a:lnTo>
                <a:lnTo>
                  <a:pt x="5071338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30809" y="5718835"/>
            <a:ext cx="3425190" cy="3425190"/>
          </a:xfrm>
          <a:custGeom>
            <a:avLst/>
            <a:gdLst/>
            <a:ahLst/>
            <a:cxnLst/>
            <a:rect l="l" t="t" r="r" b="b"/>
            <a:pathLst>
              <a:path w="3425190" h="3425190">
                <a:moveTo>
                  <a:pt x="3425151" y="0"/>
                </a:moveTo>
                <a:lnTo>
                  <a:pt x="0" y="3425164"/>
                </a:lnTo>
                <a:lnTo>
                  <a:pt x="3425151" y="3425164"/>
                </a:lnTo>
                <a:lnTo>
                  <a:pt x="3425151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25"/>
              </a:spcBef>
            </a:pPr>
            <a:r>
              <a:rPr spc="15" dirty="0">
                <a:latin typeface="Book Antiqua" panose="02040602050305030304" pitchFamily="18" charset="0"/>
              </a:rPr>
              <a:t>THANK</a:t>
            </a:r>
            <a:r>
              <a:rPr spc="-80" dirty="0">
                <a:latin typeface="Book Antiqua" panose="02040602050305030304" pitchFamily="18" charset="0"/>
              </a:rPr>
              <a:t> </a:t>
            </a:r>
            <a:r>
              <a:rPr spc="15" dirty="0">
                <a:latin typeface="Book Antiqua" panose="02040602050305030304" pitchFamily="18" charset="0"/>
              </a:rPr>
              <a:t>YOU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312945" y="4728133"/>
            <a:ext cx="1812289" cy="993140"/>
            <a:chOff x="4312945" y="4728133"/>
            <a:chExt cx="1812289" cy="993140"/>
          </a:xfrm>
        </p:grpSpPr>
        <p:sp>
          <p:nvSpPr>
            <p:cNvPr id="9" name="object 9"/>
            <p:cNvSpPr/>
            <p:nvPr/>
          </p:nvSpPr>
          <p:spPr>
            <a:xfrm>
              <a:off x="4755159" y="4728133"/>
              <a:ext cx="926871" cy="747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8349" y="5412143"/>
              <a:ext cx="526402" cy="2070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12945" y="5412143"/>
              <a:ext cx="1597570" cy="30910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 rot="540000">
            <a:off x="4625131" y="5564315"/>
            <a:ext cx="7222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D</a:t>
            </a:r>
            <a:endParaRPr sz="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480000">
            <a:off x="4659604" y="5569681"/>
            <a:ext cx="68732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65" dirty="0">
                <a:solidFill>
                  <a:srgbClr val="F40000"/>
                </a:solidFill>
                <a:latin typeface="Arial"/>
                <a:cs typeface="Arial"/>
              </a:rPr>
              <a:t>E</a:t>
            </a:r>
            <a:endParaRPr sz="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420000">
            <a:off x="4690664" y="5574441"/>
            <a:ext cx="7222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D</a:t>
            </a:r>
            <a:endParaRPr sz="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360000">
            <a:off x="4732290" y="5580851"/>
            <a:ext cx="94153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70" dirty="0">
                <a:solidFill>
                  <a:srgbClr val="F40000"/>
                </a:solidFill>
                <a:latin typeface="Arial"/>
                <a:cs typeface="Arial"/>
              </a:rPr>
              <a:t>A</a:t>
            </a: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300000">
            <a:off x="4811053" y="5587794"/>
            <a:ext cx="69942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60" dirty="0">
                <a:solidFill>
                  <a:srgbClr val="F40000"/>
                </a:solidFill>
                <a:latin typeface="Arial"/>
                <a:cs typeface="Arial"/>
              </a:rPr>
              <a:t>K</a:t>
            </a:r>
            <a:endParaRPr sz="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240000">
            <a:off x="4849774" y="5591618"/>
            <a:ext cx="8894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5" dirty="0">
                <a:solidFill>
                  <a:srgbClr val="F40000"/>
                </a:solidFill>
                <a:latin typeface="Arial"/>
                <a:cs typeface="Arial"/>
              </a:rPr>
              <a:t>IM</a:t>
            </a:r>
            <a:endParaRPr sz="4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80000">
            <a:off x="4912742" y="5595688"/>
            <a:ext cx="86660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90" dirty="0">
                <a:solidFill>
                  <a:srgbClr val="F40000"/>
                </a:solidFill>
                <a:latin typeface="Arial"/>
                <a:cs typeface="Arial"/>
              </a:rPr>
              <a:t>A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T</a:t>
            </a:r>
            <a:endParaRPr sz="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20000">
            <a:off x="4971840" y="5598562"/>
            <a:ext cx="81843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45" dirty="0">
                <a:solidFill>
                  <a:srgbClr val="F40000"/>
                </a:solidFill>
                <a:latin typeface="Arial"/>
                <a:cs typeface="Arial"/>
              </a:rPr>
              <a:t>H</a:t>
            </a:r>
            <a:r>
              <a:rPr sz="450" b="1" spc="5" dirty="0">
                <a:solidFill>
                  <a:srgbClr val="F40000"/>
                </a:solidFill>
                <a:latin typeface="Arial"/>
                <a:cs typeface="Arial"/>
              </a:rPr>
              <a:t>I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5043274" y="5601234"/>
            <a:ext cx="9659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45" dirty="0">
                <a:solidFill>
                  <a:srgbClr val="F40000"/>
                </a:solidFill>
                <a:latin typeface="Arial"/>
                <a:cs typeface="Arial"/>
              </a:rPr>
              <a:t>U</a:t>
            </a: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65546" y="5582519"/>
            <a:ext cx="144145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b="1" spc="-70" dirty="0">
                <a:solidFill>
                  <a:srgbClr val="F40000"/>
                </a:solidFill>
                <a:latin typeface="Arial"/>
                <a:cs typeface="Arial"/>
              </a:rPr>
              <a:t>E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RS</a:t>
            </a:r>
            <a:r>
              <a:rPr sz="450" b="1" spc="5" dirty="0">
                <a:solidFill>
                  <a:srgbClr val="F40000"/>
                </a:solidFill>
                <a:latin typeface="Arial"/>
                <a:cs typeface="Arial"/>
              </a:rPr>
              <a:t>I</a:t>
            </a:r>
            <a:endParaRPr sz="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4956" y="5582148"/>
            <a:ext cx="225425" cy="1016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b="1" spc="-20" dirty="0">
                <a:solidFill>
                  <a:srgbClr val="F40000"/>
                </a:solidFill>
                <a:latin typeface="Arial"/>
                <a:cs typeface="Arial"/>
              </a:rPr>
              <a:t>IV</a:t>
            </a:r>
            <a:r>
              <a:rPr sz="450" b="1" spc="75" dirty="0">
                <a:solidFill>
                  <a:srgbClr val="F40000"/>
                </a:solidFill>
                <a:latin typeface="Arial"/>
                <a:cs typeface="Arial"/>
              </a:rPr>
              <a:t> 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T</a:t>
            </a:r>
            <a:endParaRPr sz="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 rot="21540000">
            <a:off x="5316619" y="5601314"/>
            <a:ext cx="105707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Y</a:t>
            </a:r>
            <a:r>
              <a:rPr sz="450" b="1" spc="-15" dirty="0">
                <a:solidFill>
                  <a:srgbClr val="F40000"/>
                </a:solidFill>
                <a:latin typeface="Arial"/>
                <a:cs typeface="Arial"/>
              </a:rPr>
              <a:t> </a:t>
            </a:r>
            <a:r>
              <a:rPr sz="450" b="1" spc="-60" dirty="0">
                <a:solidFill>
                  <a:srgbClr val="F40000"/>
                </a:solidFill>
                <a:latin typeface="Arial"/>
                <a:cs typeface="Arial"/>
              </a:rPr>
              <a:t>O</a:t>
            </a:r>
            <a:endParaRPr sz="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21480000">
            <a:off x="5401100" y="5598580"/>
            <a:ext cx="98080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F</a:t>
            </a:r>
            <a:r>
              <a:rPr sz="450" b="1" spc="-15" dirty="0">
                <a:solidFill>
                  <a:srgbClr val="F40000"/>
                </a:solidFill>
                <a:latin typeface="Arial"/>
                <a:cs typeface="Arial"/>
              </a:rPr>
              <a:t> </a:t>
            </a: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T</a:t>
            </a:r>
            <a:endParaRPr sz="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21420000">
            <a:off x="5474933" y="5594999"/>
            <a:ext cx="8894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75" dirty="0">
                <a:solidFill>
                  <a:srgbClr val="F40000"/>
                </a:solidFill>
                <a:latin typeface="Arial"/>
                <a:cs typeface="Arial"/>
              </a:rPr>
              <a:t>E</a:t>
            </a:r>
            <a:r>
              <a:rPr sz="450" b="1" spc="-60" dirty="0">
                <a:solidFill>
                  <a:srgbClr val="F40000"/>
                </a:solidFill>
                <a:latin typeface="Arial"/>
                <a:cs typeface="Arial"/>
              </a:rPr>
              <a:t>C</a:t>
            </a:r>
            <a:endParaRPr sz="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21360000">
            <a:off x="5533311" y="5591653"/>
            <a:ext cx="71886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H</a:t>
            </a:r>
            <a:endParaRPr sz="4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 rot="21300000">
            <a:off x="5576232" y="5586686"/>
            <a:ext cx="9659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45" dirty="0">
                <a:solidFill>
                  <a:srgbClr val="F40000"/>
                </a:solidFill>
                <a:latin typeface="Arial"/>
                <a:cs typeface="Arial"/>
              </a:rPr>
              <a:t>N</a:t>
            </a:r>
            <a:r>
              <a:rPr sz="450" b="1" spc="-60" dirty="0">
                <a:solidFill>
                  <a:srgbClr val="F40000"/>
                </a:solidFill>
                <a:latin typeface="Arial"/>
                <a:cs typeface="Arial"/>
              </a:rPr>
              <a:t>O</a:t>
            </a:r>
            <a:endParaRPr sz="4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 rot="21240000">
            <a:off x="5641291" y="5581402"/>
            <a:ext cx="68732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40" dirty="0">
                <a:solidFill>
                  <a:srgbClr val="F40000"/>
                </a:solidFill>
                <a:latin typeface="Arial"/>
                <a:cs typeface="Arial"/>
              </a:rPr>
              <a:t>L</a:t>
            </a:r>
            <a:endParaRPr sz="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21180000">
            <a:off x="5672330" y="5577266"/>
            <a:ext cx="71886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60" dirty="0">
                <a:solidFill>
                  <a:srgbClr val="F40000"/>
                </a:solidFill>
                <a:latin typeface="Arial"/>
                <a:cs typeface="Arial"/>
              </a:rPr>
              <a:t>O</a:t>
            </a:r>
            <a:endParaRPr sz="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 rot="21120000">
            <a:off x="5708409" y="5572041"/>
            <a:ext cx="72225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60" dirty="0">
                <a:solidFill>
                  <a:srgbClr val="F40000"/>
                </a:solidFill>
                <a:latin typeface="Arial"/>
                <a:cs typeface="Arial"/>
              </a:rPr>
              <a:t>G</a:t>
            </a:r>
            <a:endParaRPr sz="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1000000">
            <a:off x="5743762" y="5566317"/>
            <a:ext cx="69942" cy="6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450" b="1" spc="-35" dirty="0">
                <a:solidFill>
                  <a:srgbClr val="F40000"/>
                </a:solidFill>
                <a:latin typeface="Arial"/>
                <a:cs typeface="Arial"/>
              </a:rPr>
              <a:t>Y</a:t>
            </a:r>
            <a:endParaRPr sz="4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76853" y="5952902"/>
            <a:ext cx="348551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41375" marR="5080" indent="-829310">
              <a:lnSpc>
                <a:spcPct val="101800"/>
              </a:lnSpc>
              <a:spcBef>
                <a:spcPts val="90"/>
              </a:spcBef>
            </a:pPr>
            <a:r>
              <a:rPr sz="2200" b="1" spc="20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Dedan Kimathi</a:t>
            </a:r>
            <a:r>
              <a:rPr sz="2200" b="1" spc="-50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 </a:t>
            </a:r>
            <a:r>
              <a:rPr sz="2200" b="1" spc="1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University  of</a:t>
            </a:r>
            <a:r>
              <a:rPr lang="en-US" sz="2200" b="1" spc="1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 </a:t>
            </a:r>
            <a:r>
              <a:rPr sz="2200" b="1" spc="15" dirty="0">
                <a:solidFill>
                  <a:srgbClr val="146404"/>
                </a:solidFill>
                <a:latin typeface="Book Antiqua" panose="02040602050305030304" pitchFamily="18" charset="0"/>
                <a:cs typeface="Palladio Uralic"/>
              </a:rPr>
              <a:t>Technology</a:t>
            </a:r>
            <a:endParaRPr sz="2200" dirty="0">
              <a:latin typeface="Book Antiqua" panose="02040602050305030304" pitchFamily="18" charset="0"/>
              <a:cs typeface="Palladio Ural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276553" y="4826101"/>
            <a:ext cx="33655" cy="1762760"/>
          </a:xfrm>
          <a:custGeom>
            <a:avLst/>
            <a:gdLst/>
            <a:ahLst/>
            <a:cxnLst/>
            <a:rect l="l" t="t" r="r" b="b"/>
            <a:pathLst>
              <a:path w="33654" h="1762759">
                <a:moveTo>
                  <a:pt x="33578" y="0"/>
                </a:moveTo>
                <a:lnTo>
                  <a:pt x="0" y="0"/>
                </a:lnTo>
                <a:lnTo>
                  <a:pt x="0" y="1762709"/>
                </a:lnTo>
                <a:lnTo>
                  <a:pt x="33578" y="1762709"/>
                </a:lnTo>
                <a:lnTo>
                  <a:pt x="33578" y="0"/>
                </a:lnTo>
                <a:close/>
              </a:path>
            </a:pathLst>
          </a:custGeom>
          <a:solidFill>
            <a:srgbClr val="D6B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78504" y="3969372"/>
            <a:ext cx="9578975" cy="0"/>
          </a:xfrm>
          <a:custGeom>
            <a:avLst/>
            <a:gdLst/>
            <a:ahLst/>
            <a:cxnLst/>
            <a:rect l="l" t="t" r="r" b="b"/>
            <a:pathLst>
              <a:path w="9578975">
                <a:moveTo>
                  <a:pt x="0" y="0"/>
                </a:moveTo>
                <a:lnTo>
                  <a:pt x="9578390" y="0"/>
                </a:lnTo>
              </a:path>
            </a:pathLst>
          </a:custGeom>
          <a:ln w="38100">
            <a:solidFill>
              <a:srgbClr val="D6BB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294406-1D09-4164-AF76-A9A603F559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KE" smtClean="0"/>
              <a:t>13</a:t>
            </a:fld>
            <a:endParaRPr lang="en-KE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2FE2510A-E120-4C90-B6A1-3A0D00BF608E}"/>
              </a:ext>
            </a:extLst>
          </p:cNvPr>
          <p:cNvSpPr txBox="1"/>
          <p:nvPr/>
        </p:nvSpPr>
        <p:spPr>
          <a:xfrm>
            <a:off x="7619980" y="4789221"/>
            <a:ext cx="6263424" cy="18592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Private </a:t>
            </a:r>
            <a:r>
              <a:rPr sz="2100" b="1" i="1" spc="-5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Bag- </a:t>
            </a: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Dedan </a:t>
            </a:r>
            <a:r>
              <a:rPr sz="2100" b="1" i="1" spc="-5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kimathi, </a:t>
            </a: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Nyeri-Mweiga</a:t>
            </a:r>
            <a:r>
              <a:rPr sz="2100" b="1" i="1" spc="-60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 </a:t>
            </a:r>
            <a:r>
              <a:rPr sz="2100" b="1" i="1" spc="-5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road</a:t>
            </a:r>
            <a:endParaRPr sz="2100" b="1" dirty="0">
              <a:latin typeface="Book Antiqua" panose="02040602050305030304" pitchFamily="18" charset="0"/>
              <a:cs typeface="Palladio Uralic"/>
            </a:endParaRPr>
          </a:p>
          <a:p>
            <a:pPr marL="12700" marR="1999614">
              <a:lnSpc>
                <a:spcPct val="162700"/>
              </a:lnSpc>
            </a:pP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Telephone: </a:t>
            </a: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oppins" panose="00000500000000000000" pitchFamily="2" charset="0"/>
              </a:rPr>
              <a:t>+254-061</a:t>
            </a:r>
            <a:r>
              <a:rPr sz="2100" b="1" i="1" spc="-105" dirty="0">
                <a:solidFill>
                  <a:srgbClr val="757575"/>
                </a:solidFill>
                <a:latin typeface="Book Antiqua" panose="02040602050305030304" pitchFamily="18" charset="0"/>
                <a:cs typeface="Poppins" panose="00000500000000000000" pitchFamily="2" charset="0"/>
              </a:rPr>
              <a:t> </a:t>
            </a: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oppins" panose="00000500000000000000" pitchFamily="2" charset="0"/>
              </a:rPr>
              <a:t>2050000  </a:t>
            </a:r>
            <a:r>
              <a:rPr sz="2100" b="1" i="1" spc="-5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Email: </a:t>
            </a:r>
            <a:r>
              <a:rPr sz="2100" b="1" i="1" spc="-5" dirty="0">
                <a:solidFill>
                  <a:srgbClr val="757575"/>
                </a:solidFill>
                <a:latin typeface="Book Antiqua" panose="02040602050305030304" pitchFamily="18" charset="0"/>
                <a:cs typeface="TeXGyrePagella"/>
                <a:hlinkClick r:id="rId5"/>
              </a:rPr>
              <a:t>vc@dkut.ac.ke </a:t>
            </a:r>
            <a:r>
              <a:rPr sz="2100" b="1" i="1" spc="-5" dirty="0">
                <a:solidFill>
                  <a:srgbClr val="757575"/>
                </a:solidFill>
                <a:latin typeface="Book Antiqua" panose="02040602050305030304" pitchFamily="18" charset="0"/>
                <a:cs typeface="TeXGyrePagella"/>
              </a:rPr>
              <a:t> </a:t>
            </a: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Website:</a:t>
            </a:r>
            <a:r>
              <a:rPr sz="2100" b="1" i="1" spc="-25" dirty="0">
                <a:solidFill>
                  <a:srgbClr val="757575"/>
                </a:solidFill>
                <a:latin typeface="Book Antiqua" panose="02040602050305030304" pitchFamily="18" charset="0"/>
                <a:cs typeface="Palladio Uralic"/>
              </a:rPr>
              <a:t> </a:t>
            </a:r>
            <a:r>
              <a:rPr sz="2100" b="1" i="1" dirty="0">
                <a:solidFill>
                  <a:srgbClr val="757575"/>
                </a:solidFill>
                <a:latin typeface="Book Antiqua" panose="02040602050305030304" pitchFamily="18" charset="0"/>
                <a:cs typeface="TeXGyrePagella"/>
                <a:hlinkClick r:id="rId6"/>
              </a:rPr>
              <a:t>www.dkut.ac.ke</a:t>
            </a:r>
            <a:endParaRPr sz="2100" b="1" dirty="0">
              <a:latin typeface="Book Antiqua" panose="02040602050305030304" pitchFamily="18" charset="0"/>
              <a:cs typeface="TeXGyrePagell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757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6710</TotalTime>
  <Words>1131</Words>
  <Application>Microsoft Office PowerPoint</Application>
  <PresentationFormat>Custom</PresentationFormat>
  <Paragraphs>200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 Antiqua</vt:lpstr>
      <vt:lpstr>Calibri</vt:lpstr>
      <vt:lpstr>Cambria</vt:lpstr>
      <vt:lpstr>Palladio Uralic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Design</dc:title>
  <dc:creator>Vickyy</dc:creator>
  <cp:lastModifiedBy>Kenneth Kimosop</cp:lastModifiedBy>
  <cp:revision>116</cp:revision>
  <dcterms:created xsi:type="dcterms:W3CDTF">2021-12-02T15:58:19Z</dcterms:created>
  <dcterms:modified xsi:type="dcterms:W3CDTF">2026-08-14T16:46:18Z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2021-12-02T00:00:00Z</vt:filetime>
  </property>
  <property fmtid="{D5CDD505-2E9C-101B-9397-08002B2CF9AE}" pid="3" name="Creator">
    <vt:lpwstr>Adobe Illustrator 24.3 (Windows)</vt:lpwstr>
  </property>
  <property fmtid="{D5CDD505-2E9C-101B-9397-08002B2CF9AE}" pid="4" name="LastSaved">
    <vt:filetime>2021-12-02T00:00:00Z</vt:filetime>
  </property>
</Properties>
</file>